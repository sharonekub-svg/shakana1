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7200" b="1" i="0">
                <a:solidFill>
                  <a:srgbClr val="0D0D0D"/>
                </a:solidFill>
                <a:latin typeface="Arial"/>
              </a:rPr>
              <a:t>שקאנה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800" b="0" i="0">
                <a:solidFill>
                  <a:srgbClr val="6B6B6B"/>
                </a:solidFill>
                <a:latin typeface="Arial"/>
              </a:rPr>
              <a:t>קניות קבוצתיות לשכנים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66160"/>
            <a:ext cx="10360152" cy="36576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1">
                <a:solidFill>
                  <a:srgbClr val="6B6B6B"/>
                </a:solidFill>
                <a:latin typeface="Arial"/>
              </a:rPr>
              <a:t>מצגת למשקיעים ולחנויות שותפות  · 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1" i="0">
                <a:solidFill>
                  <a:srgbClr val="D41C1C"/>
                </a:solidFill>
                <a:latin typeface="Arial"/>
              </a:rPr>
              <a:t>shakana.app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מי אנחנו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000" b="1" i="0">
                <a:solidFill>
                  <a:srgbClr val="0D0D0D"/>
                </a:solidFill>
                <a:latin typeface="Arial"/>
              </a:rPr>
              <a:t>שקאנה היא הפלטפורמה הראשונה בישראל לקניות קבוצתיות עבור בניינים ושכונות.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700" b="0" i="0">
                <a:solidFill>
                  <a:srgbClr val="6B6B6B"/>
                </a:solidFill>
                <a:latin typeface="Arial"/>
              </a:rPr>
              <a:t>אנחנו בונים את התשתית שמאפשרת לשכנים לקנות ביחד, לחלק עלויות משלוח, ולקבל הנחות קבוצתיות — ישירות מהטלפון.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36118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91440" cy="25603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800" b="1" i="0">
                <a:solidFill>
                  <a:srgbClr val="0D0D0D"/>
                </a:solidFill>
                <a:latin typeface="Arial"/>
              </a:rPr>
              <a:t>חברתי קודם כל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6B6B6B"/>
                </a:solidFill>
                <a:latin typeface="Arial"/>
              </a:rPr>
              <a:t>בנוי על שיתוף בוואטסאפ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200400"/>
            <a:ext cx="36118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3200400"/>
            <a:ext cx="91440" cy="25603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800" b="1" i="0">
                <a:solidFill>
                  <a:srgbClr val="0D0D0D"/>
                </a:solidFill>
                <a:latin typeface="Arial"/>
              </a:rPr>
              <a:t>מובייל קודם כל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6B6B6B"/>
                </a:solidFill>
                <a:latin typeface="Arial"/>
              </a:rPr>
              <a:t>iOS + Android, עברית ו-RTL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3200400"/>
            <a:ext cx="3611880" cy="2560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74736" y="3200400"/>
            <a:ext cx="91440" cy="25603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3337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800" b="1" i="0">
                <a:solidFill>
                  <a:srgbClr val="0D0D0D"/>
                </a:solidFill>
                <a:latin typeface="Arial"/>
              </a:rPr>
              <a:t>ישראל קודם כל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6B6B6B"/>
                </a:solidFill>
                <a:latin typeface="Arial"/>
              </a:rPr>
              <a:t>מתוכנן לבנייני מגורים ישראליים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הבעיה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000" b="1" i="0">
                <a:solidFill>
                  <a:srgbClr val="0D0D0D"/>
                </a:solidFill>
                <a:latin typeface="Arial"/>
              </a:rPr>
              <a:t>ישראלים משלמים יותר מדי על משלוחים — כל יום.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3611880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200" b="1" i="0">
                <a:solidFill>
                  <a:srgbClr val="D41C1C"/>
                </a:solidFill>
                <a:latin typeface="Arial"/>
              </a:rPr>
              <a:t>₪35–60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0D0D0D"/>
                </a:solidFill>
                <a:latin typeface="Arial"/>
              </a:rPr>
              <a:t>דמי משלוח לאדם, להזמנה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611880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200" b="1" i="0">
                <a:solidFill>
                  <a:srgbClr val="D41C1C"/>
                </a:solidFill>
                <a:latin typeface="Arial"/>
              </a:rPr>
              <a:t>×12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0D0D0D"/>
                </a:solidFill>
                <a:latin typeface="Arial"/>
              </a:rPr>
              <a:t>שכנים שמזמינים מאותה חנות בנפרד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2331720"/>
            <a:ext cx="3611880" cy="3017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200" b="1" i="0">
                <a:solidFill>
                  <a:srgbClr val="D41C1C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0D0D0D"/>
                </a:solidFill>
                <a:latin typeface="Arial"/>
              </a:rPr>
              <a:t>מוצרים שמחברים ביניהם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778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1">
                <a:solidFill>
                  <a:srgbClr val="6B6B6B"/>
                </a:solidFill>
                <a:latin typeface="Arial"/>
              </a:rPr>
              <a:t>חנויות רוצות נפח. לקוחות רוצים חיסכון. אף אחד לא מחבר ביניהם. עד עכשיו.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מה אנחנו עושים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91440" cy="2103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800" b="1" i="0">
                <a:solidFill>
                  <a:srgbClr val="D41C1C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משתמש מוצא מוצר שהוא רוצה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554480"/>
            <a:ext cx="36576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554480"/>
            <a:ext cx="91440" cy="2103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916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800" b="1" i="0">
                <a:solidFill>
                  <a:srgbClr val="D41C1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331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פותח קבוצה → שולח לינק לקבוצת הבניין בוואטסאפ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554480"/>
            <a:ext cx="36576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54480"/>
            <a:ext cx="91440" cy="2103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6916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800" b="1" i="0">
                <a:solidFill>
                  <a:srgbClr val="D41C1C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331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שכנים מצטרפים ובוחרים מידה / צבע / כמות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36576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91440" cy="2103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69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800" b="1" i="0">
                <a:solidFill>
                  <a:srgbClr val="D41C1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0915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טיימר סופר לאחור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931920"/>
            <a:ext cx="36576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3931920"/>
            <a:ext cx="91440" cy="2103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4069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800" b="1" i="0">
                <a:solidFill>
                  <a:srgbClr val="D41C1C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70915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הטיימר נגמר → הזמנה אחת נשלחת אוטומטית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3931920"/>
            <a:ext cx="3657600" cy="2103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6" y="3931920"/>
            <a:ext cx="91440" cy="21031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6" y="4069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800" b="1" i="0">
                <a:solidFill>
                  <a:srgbClr val="D41C1C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4709159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משלוח אחד. חיסכון לכולם. 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למה עכשיו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800" b="1" i="0">
                <a:solidFill>
                  <a:srgbClr val="D41C1C"/>
                </a:solidFill>
                <a:latin typeface="Arial"/>
              </a:rPr>
              <a:t>3.2M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0" i="0">
                <a:solidFill>
                  <a:srgbClr val="0D0D0D"/>
                </a:solidFill>
                <a:latin typeface="Arial"/>
              </a:rPr>
              <a:t>דירות בישראל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577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3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800" b="1" i="0">
                <a:solidFill>
                  <a:srgbClr val="D41C1C"/>
                </a:solidFill>
                <a:latin typeface="Arial"/>
              </a:rPr>
              <a:t>85%+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0" i="0">
                <a:solidFill>
                  <a:srgbClr val="0D0D0D"/>
                </a:solidFill>
                <a:latin typeface="Arial"/>
              </a:rPr>
              <a:t>חדירת וואטסאפ בישראל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577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800" b="1" i="0">
                <a:solidFill>
                  <a:srgbClr val="D41C1C"/>
                </a:solidFill>
                <a:latin typeface="Arial"/>
              </a:rPr>
              <a:t>$50B+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0" i="0">
                <a:solidFill>
                  <a:srgbClr val="0D0D0D"/>
                </a:solidFill>
                <a:latin typeface="Arial"/>
              </a:rPr>
              <a:t>Pinduoduo (סין) — אותו מודל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94760"/>
            <a:ext cx="5577840" cy="1920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800" b="1" i="0">
                <a:solidFill>
                  <a:srgbClr val="D41C1C"/>
                </a:solidFill>
                <a:latin typeface="Arial"/>
              </a:rPr>
              <a:t>$20B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920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0" i="0">
                <a:solidFill>
                  <a:srgbClr val="0D0D0D"/>
                </a:solidFill>
                <a:latin typeface="Arial"/>
              </a:rPr>
              <a:t>TikTok Shop GMV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760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1">
                <a:solidFill>
                  <a:srgbClr val="6B6B6B"/>
                </a:solidFill>
                <a:latin typeface="Arial"/>
              </a:rPr>
              <a:t>ישראלים כבר מתאמים קניות בקבוצות הוואטסאפ של הבניין — ידנית. אף אחד לא הפך את זה למוצר. אנחנו ראשונים.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מודל תשלום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4068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09728" cy="5029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100" b="1" i="0">
                <a:solidFill>
                  <a:srgbClr val="6B6B6B"/>
                </a:solidFill>
                <a:latin typeface="Arial"/>
              </a:rPr>
              <a:t>אפשרות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600" b="1" i="0">
                <a:solidFill>
                  <a:srgbClr val="0D0D0D"/>
                </a:solidFill>
                <a:latin typeface="Arial"/>
              </a:rPr>
              <a:t>ביט פלואו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1">
                <a:solidFill>
                  <a:srgbClr val="6B6B6B"/>
                </a:solidFill>
                <a:latin typeface="Arial"/>
              </a:rPr>
              <a:t>אפס חיכוך. ללא כרטיס אשראי.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16636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• כל משתמש רואה את הסכום שלו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667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• האפליקציה מייצרת לינק ביט אישי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873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• התשלום עובר ישירות לחנות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• כולם שילמו → ההזמנה יוצאת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2861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1" i="0">
                <a:solidFill>
                  <a:srgbClr val="D41C1C"/>
                </a:solidFill>
                <a:latin typeface="Arial"/>
              </a:rPr>
              <a:t>✓ ישראלים כבר משתמשים בביט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1" i="0">
                <a:solidFill>
                  <a:srgbClr val="D41C1C"/>
                </a:solidFill>
                <a:latin typeface="Arial"/>
              </a:rPr>
              <a:t>✓ ללא כרטיס אשראי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508760"/>
            <a:ext cx="5440680" cy="5029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508760"/>
            <a:ext cx="109728" cy="50292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100" b="1" i="0">
                <a:solidFill>
                  <a:srgbClr val="D41C1C"/>
                </a:solidFill>
                <a:latin typeface="Arial"/>
              </a:rPr>
              <a:t>אפשרות 2  ★ מומלצת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65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2200" b="1" i="0">
                <a:solidFill>
                  <a:srgbClr val="FFFFFF"/>
                </a:solidFill>
                <a:latin typeface="Arial"/>
              </a:rPr>
              <a:t>תשלום מראש + הזמנה אוטומטית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1">
                <a:solidFill>
                  <a:srgbClr val="6B6B6B"/>
                </a:solidFill>
                <a:latin typeface="Arial"/>
              </a:rPr>
              <a:t>אוטומטי לחלוטין. גדל ללא הגבלה.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108960"/>
            <a:ext cx="5166360" cy="27432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FFFFFF"/>
                </a:solidFill>
                <a:latin typeface="Arial"/>
              </a:rPr>
              <a:t>• מצטרף → בוחר מידה / צבע / כמות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6667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FFFFFF"/>
                </a:solidFill>
                <a:latin typeface="Arial"/>
              </a:rPr>
              <a:t>• משלם מיד (כרטיס / Apple Pay)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0873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FFFFFF"/>
                </a:solidFill>
                <a:latin typeface="Arial"/>
              </a:rPr>
              <a:t>• טיימר סופר לאחור (24–48 שעות)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5079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FFFFFF"/>
                </a:solidFill>
                <a:latin typeface="Arial"/>
              </a:rPr>
              <a:t>• הטיימר נגמר → הזמנה יוצאת אוטומטית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92861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FFFFFF"/>
                </a:solidFill>
                <a:latin typeface="Arial"/>
              </a:rPr>
              <a:t>• משלוח אחד לכתובת יוזם הקבוצה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349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1" i="0">
                <a:solidFill>
                  <a:srgbClr val="D41C1C"/>
                </a:solidFill>
                <a:latin typeface="Arial"/>
              </a:rPr>
              <a:t>✓ ללא פעולה אנושית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7698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1" i="0">
                <a:solidFill>
                  <a:srgbClr val="D41C1C"/>
                </a:solidFill>
                <a:latin typeface="Arial"/>
              </a:rPr>
              <a:t>✓ החזר מלא אם הקבוצה נכשלת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למה חנויות בוחרות בנו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91440" cy="13716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6420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1" i="0">
                <a:solidFill>
                  <a:srgbClr val="0D0D0D"/>
                </a:solidFill>
                <a:latin typeface="Arial"/>
              </a:rPr>
              <a:t>הזמנות בנפח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הזמנה אחת לבניין — לא 12 הזמנות בנפרד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91440" cy="13716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6420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1" i="0">
                <a:solidFill>
                  <a:srgbClr val="0D0D0D"/>
                </a:solidFill>
                <a:latin typeface="Arial"/>
              </a:rPr>
              <a:t>אפס הוצאות שיווק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המשתמשים מביאים את השכנים שלהם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91440" cy="13716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1" i="0">
                <a:solidFill>
                  <a:srgbClr val="0D0D0D"/>
                </a:solidFill>
                <a:latin typeface="Arial"/>
              </a:rPr>
              <a:t>תשלום מראש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אין רדיפה אחרי תשלומים, אין סיכון אשראי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154680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154680"/>
            <a:ext cx="91440" cy="13716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2644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1" i="0">
                <a:solidFill>
                  <a:srgbClr val="0D0D0D"/>
                </a:solidFill>
                <a:latin typeface="Arial"/>
              </a:rPr>
              <a:t>אפס החזרות גודל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947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כל משתמש בחר את המפרט שלו בעצמו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54880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754880"/>
            <a:ext cx="91440" cy="13716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646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1" i="0">
                <a:solidFill>
                  <a:srgbClr val="0D0D0D"/>
                </a:solidFill>
                <a:latin typeface="Arial"/>
              </a:rPr>
              <a:t>אנליטיקת שכונה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דעו אילו מוצרים טרנדיים בכל אזור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754880"/>
            <a:ext cx="557784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754880"/>
            <a:ext cx="91440" cy="13716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8646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600" b="1" i="0">
                <a:solidFill>
                  <a:srgbClr val="0D0D0D"/>
                </a:solidFill>
                <a:latin typeface="Arial"/>
              </a:rPr>
              <a:t>ערוץ רכישה חדש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394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כל הזמנה קבוצתית = אירוע שיווק עצמי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מודל עסקי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577840" cy="1691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7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400" b="1" i="0">
                <a:solidFill>
                  <a:srgbClr val="D41C1C"/>
                </a:solidFill>
                <a:latin typeface="Arial"/>
              </a:rPr>
              <a:t>3–5%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עמלת פלטפורמה על כל הזמנה קבוצתית שהושלמה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577840" cy="1691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64207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400" b="1" i="0">
                <a:solidFill>
                  <a:srgbClr val="D41C1C"/>
                </a:solidFill>
                <a:latin typeface="Arial"/>
              </a:rPr>
              <a:t>₪199/חודש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מנוי חנות — אנליטיקה + מיקום מועדף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74720"/>
            <a:ext cx="5577840" cy="1691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844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400" b="1" i="0">
                <a:solidFill>
                  <a:srgbClr val="D41C1C"/>
                </a:solidFill>
                <a:latin typeface="Arial"/>
              </a:rPr>
              <a:t>CPM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34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רשימות מוצרים ממומנות בפידים של השכונה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474720"/>
            <a:ext cx="5577840" cy="1691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844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400" b="1" i="0">
                <a:solidFill>
                  <a:srgbClr val="D41C1C"/>
                </a:solidFill>
                <a:latin typeface="Arial"/>
              </a:rPr>
              <a:t>דאטה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0">
                <a:solidFill>
                  <a:srgbClr val="0D0D0D"/>
                </a:solidFill>
                <a:latin typeface="Arial"/>
              </a:rPr>
              <a:t>דוחות ביקוש שכונתיים למותגים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86400"/>
            <a:ext cx="1143000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486400"/>
            <a:ext cx="91440" cy="10058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דוגמת יחידת כלכלית: הזמנה ממוצעת ₪1,200  ×  4% עמלה  =  ₪48 להזמנה  ·  1,000 הזמנות/חודש  =  ₪48,000 MRR בעלות שולית אפסית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3600" b="1" i="0">
                <a:solidFill>
                  <a:srgbClr val="0D0D0D"/>
                </a:solidFill>
                <a:latin typeface="Arial"/>
              </a:rPr>
              <a:t>איפה אנחנו ולאן אנחנו הולכים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5760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91440" cy="5074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1" i="0">
                <a:solidFill>
                  <a:srgbClr val="0D0D0D"/>
                </a:solidFill>
                <a:latin typeface="Arial"/>
              </a:rPr>
              <a:t>עכשיו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✓  האפליקציה בנויה ובפרודקשן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✓  iOS +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57016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✓  Stripe escrow פעיל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15384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✓  עברית ו-RTL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73752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✓  OTP אימות אימייל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532120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✓  חנויות ראשונות בשיחות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508760"/>
            <a:ext cx="365760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508760"/>
            <a:ext cx="91440" cy="50749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276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1" i="0">
                <a:solidFill>
                  <a:srgbClr val="D41C1C"/>
                </a:solidFill>
                <a:latin typeface="Arial"/>
              </a:rPr>
              <a:t>6 חודשים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240280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50 בניינים פעילים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89864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200 הזמנות קבוצתיות/חודש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557016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10 חנויות שותפות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215384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כרטיסי שיתוף וואטסאפ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873752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הזמנה אוטומטית חי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6" y="1508760"/>
            <a:ext cx="3657600" cy="5074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1508760"/>
            <a:ext cx="91440" cy="50749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16276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1" i="0">
                <a:solidFill>
                  <a:srgbClr val="6B6B6B"/>
                </a:solidFill>
                <a:latin typeface="Arial"/>
              </a:rPr>
              <a:t>12 חודשים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2240280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500 בניינים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2898648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5 ערים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3557016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₪500K ARR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4215384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הסכמי ניהול בניינים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4873752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0D0D0D"/>
                </a:solidFill>
                <a:latin typeface="Arial"/>
              </a:rPr>
              <a:t>→  מוכנים לסיבוב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מה אנחנו מחפשים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029200" cy="27432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6B6B6B"/>
                </a:solidFill>
                <a:latin typeface="Arial"/>
              </a:rPr>
              <a:t>מגייסים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600" b="1" i="0">
                <a:solidFill>
                  <a:srgbClr val="D41C1C"/>
                </a:solidFill>
                <a:latin typeface="Arial"/>
              </a:rPr>
              <a:t>$300,000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FFFFFF"/>
                </a:solidFill>
                <a:latin typeface="Arial"/>
              </a:rPr>
              <a:t>סיבוב ראשוני (Seed)  ·  8% אחוזי הון
שווי חברה לפני כסף: $3.25M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08760"/>
            <a:ext cx="585216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91440" cy="960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800" b="1" i="0">
                <a:solidFill>
                  <a:srgbClr val="D41C1C"/>
                </a:solidFill>
                <a:latin typeface="Arial"/>
              </a:rPr>
              <a:t>40%  $120K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6002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0D0D0D"/>
                </a:solidFill>
                <a:latin typeface="Arial"/>
              </a:rPr>
              <a:t>פיתוח מוצר והנדסה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606039"/>
            <a:ext cx="585216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2606039"/>
            <a:ext cx="91440" cy="960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69747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800" b="1" i="0">
                <a:solidFill>
                  <a:srgbClr val="D41C1C"/>
                </a:solidFill>
                <a:latin typeface="Arial"/>
              </a:rPr>
              <a:t>25%  $75K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69747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0D0D0D"/>
                </a:solidFill>
                <a:latin typeface="Arial"/>
              </a:rPr>
              <a:t>שותפויות חנויות ומכירות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703320"/>
            <a:ext cx="585216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703320"/>
            <a:ext cx="91440" cy="960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7947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800" b="1" i="0">
                <a:solidFill>
                  <a:srgbClr val="D41C1C"/>
                </a:solidFill>
                <a:latin typeface="Arial"/>
              </a:rPr>
              <a:t>20%  $60K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79475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0D0D0D"/>
                </a:solidFill>
                <a:latin typeface="Arial"/>
              </a:rPr>
              <a:t>צמיחה ושיווק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4800600"/>
            <a:ext cx="585216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4800600"/>
            <a:ext cx="91440" cy="96012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892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800" b="1" i="0">
                <a:solidFill>
                  <a:srgbClr val="D41C1C"/>
                </a:solidFill>
                <a:latin typeface="Arial"/>
              </a:rPr>
              <a:t>15%  $45K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8920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500" b="0" i="0">
                <a:solidFill>
                  <a:srgbClr val="0D0D0D"/>
                </a:solidFill>
                <a:latin typeface="Arial"/>
              </a:rPr>
              <a:t>משפטי, תפעול, תשתית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400" b="0" i="1">
                <a:solidFill>
                  <a:srgbClr val="6B6B6B"/>
                </a:solidFill>
                <a:latin typeface="Arial"/>
              </a:rPr>
              <a:t>18 חודשי ראנוויי  ·  50 חנויות שותפות ראשונות  ·  1,000 קבוצות בניינים פעילות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4000" b="1" i="0">
                <a:solidFill>
                  <a:srgbClr val="0D0D0D"/>
                </a:solidFill>
                <a:latin typeface="Arial"/>
              </a:rPr>
              <a:t>למה להשקיע עכשיו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91440" cy="146304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700" b="1" i="0">
                <a:solidFill>
                  <a:srgbClr val="0D0D0D"/>
                </a:solidFill>
                <a:latin typeface="Arial"/>
              </a:rPr>
              <a:t>שוק בתול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אין מתחרים בישראל שעושים את זה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91440" cy="146304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184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700" b="1" i="0">
                <a:solidFill>
                  <a:srgbClr val="0D0D0D"/>
                </a:solidFill>
                <a:latin typeface="Arial"/>
              </a:rPr>
              <a:t>אפקט רשת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כל בניין שמצטרף נועל את השכנים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91440" cy="146304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101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700" b="1" i="0">
                <a:solidFill>
                  <a:srgbClr val="0D0D0D"/>
                </a:solidFill>
                <a:latin typeface="Arial"/>
              </a:rPr>
              <a:t>ויראלי בתכנון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כל הזמנה קבוצתית = שיתוף בוואטסאפ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0040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00400"/>
            <a:ext cx="91440" cy="146304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3101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700" b="1" i="0">
                <a:solidFill>
                  <a:srgbClr val="0D0D0D"/>
                </a:solidFill>
                <a:latin typeface="Arial"/>
              </a:rPr>
              <a:t>ללא נכסים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אין מלאי. אין מחסן. אין לוגיסטיקה.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892040"/>
            <a:ext cx="91440" cy="146304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001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700" b="1" i="0">
                <a:solidFill>
                  <a:srgbClr val="0D0D0D"/>
                </a:solidFill>
                <a:latin typeface="Arial"/>
              </a:rPr>
              <a:t>כבר בנוי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זו לא מצגת. האפליקציה קיימת. הטכנולוגיה עובדת.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892040"/>
            <a:ext cx="557784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892040"/>
            <a:ext cx="91440" cy="1463040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001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700" b="1" i="0">
                <a:solidFill>
                  <a:srgbClr val="0D0D0D"/>
                </a:solidFill>
                <a:latin typeface="Arial"/>
              </a:rPr>
              <a:t>התאמת מייסד-שוק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5778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 rtl="1"/>
            <a:r>
              <a:rPr sz="1300" b="0" i="0">
                <a:solidFill>
                  <a:srgbClr val="6B6B6B"/>
                </a:solidFill>
                <a:latin typeface="Arial"/>
              </a:rPr>
              <a:t>בנוי על ידי ישראלים, לישראלים, בבניינים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6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 rtl="1"/>
            <a:r>
              <a:rPr sz="6800" b="1" i="0">
                <a:solidFill>
                  <a:srgbClr val="0D0D0D"/>
                </a:solidFill>
                <a:latin typeface="Arial"/>
              </a:rPr>
              <a:t>שקאנה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 rtl="1"/>
            <a:r>
              <a:rPr sz="2400" b="0" i="0">
                <a:solidFill>
                  <a:srgbClr val="6B6B6B"/>
                </a:solidFill>
                <a:latin typeface="Arial"/>
              </a:rPr>
              <a:t>קניות קבוצתיות לשכנים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754880"/>
            <a:ext cx="3931920" cy="54864"/>
          </a:xfrm>
          <a:prstGeom prst="rect">
            <a:avLst/>
          </a:prstGeom>
          <a:solidFill>
            <a:srgbClr val="D4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 rtl="1"/>
            <a:r>
              <a:rPr sz="1600" b="1" i="0">
                <a:solidFill>
                  <a:srgbClr val="D41C1C"/>
                </a:solidFill>
                <a:latin typeface="Arial"/>
              </a:rPr>
              <a:t>sharon@shakana.app  ·  shakana.app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 rtl="1"/>
            <a:r>
              <a:rPr sz="1300" b="0" i="1">
                <a:solidFill>
                  <a:srgbClr val="6B6B6B"/>
                </a:solidFill>
                <a:latin typeface="Arial"/>
              </a:rPr>
              <a:t>בנוי בישראל. לישראל.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