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011680"/>
            <a:ext cx="164592" cy="164592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B2118"/>
                </a:solidFill>
                <a:latin typeface="Arial"/>
              </a:rPr>
              <a:t>SHAKANA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23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6F6257"/>
                </a:solidFill>
                <a:latin typeface="Arial"/>
              </a:rPr>
              <a:t>קניות קבוצתיות לשכנים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F6257"/>
                </a:solidFill>
                <a:latin typeface="Arial"/>
              </a:rPr>
              <a:t>Investor &amp; Store Partner Deck  ·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6442"/>
                </a:solidFill>
                <a:latin typeface="Arial"/>
              </a:rPr>
              <a:t>shakana.app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מי אנחנו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B2118"/>
                </a:solidFill>
                <a:latin typeface="Arial"/>
              </a:rPr>
              <a:t>Shakana is Israel's first social group-buying platform
built for apartment buildings and neighborhoods.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F6257"/>
                </a:solidFill>
                <a:latin typeface="Arial"/>
              </a:rPr>
              <a:t>We build the infrastructure for neighbors to shop together,
split shipping costs, and unlock group discounts — from their phones.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3566160" cy="20116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109728" cy="201168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118"/>
                </a:solidFill>
                <a:latin typeface="Arial"/>
              </a:rPr>
              <a:t>Social-first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Built on WhatsApp sharing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023360"/>
            <a:ext cx="3566160" cy="20116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4023360"/>
            <a:ext cx="109728" cy="201168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118"/>
                </a:solidFill>
                <a:latin typeface="Arial"/>
              </a:rPr>
              <a:t>Mobile-first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iOS + Android, Hebrew RTL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023360"/>
            <a:ext cx="3566160" cy="20116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023360"/>
            <a:ext cx="109728" cy="201168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118"/>
                </a:solidFill>
                <a:latin typeface="Arial"/>
              </a:rPr>
              <a:t>Israel-first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754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Designed for Israeli neighborhoods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הבעיה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B2118"/>
                </a:solidFill>
                <a:latin typeface="Arial"/>
              </a:rPr>
              <a:t>Israelis overpay for shipping — every single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566160" cy="2286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6442"/>
                </a:solidFill>
                <a:latin typeface="Arial"/>
              </a:rPr>
              <a:t>₪35–60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shipping per order, per 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3566160" cy="2286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6442"/>
                </a:solidFill>
                <a:latin typeface="Arial"/>
              </a:rPr>
              <a:t>×12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neighbors ordering the same store separately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43200"/>
            <a:ext cx="3566160" cy="2286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6442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4903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products that connect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F6257"/>
                </a:solidFill>
                <a:latin typeface="Arial"/>
              </a:rPr>
              <a:t>Stores want volume. Customers want savings. Nobody connects them. Until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מה אנחנו עושים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1737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442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User finds a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920240"/>
            <a:ext cx="3566160" cy="1737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442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Opens a group → shares to building WhatsApp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20240"/>
            <a:ext cx="3566160" cy="1737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442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Neighbors join, pick size/color/qty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566160" cy="1737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442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Timer counts 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023360"/>
            <a:ext cx="3566160" cy="1737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442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63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One order. One delivery. One address.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023360"/>
            <a:ext cx="3566160" cy="1737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160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442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663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Everyone saves. 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למה עכשיו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6442"/>
                </a:solidFill>
                <a:latin typeface="Arial"/>
              </a:rPr>
              <a:t>3.2M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F6257"/>
                </a:solidFill>
                <a:latin typeface="Arial"/>
              </a:rPr>
              <a:t>Apartments in Israel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94960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6442"/>
                </a:solidFill>
                <a:latin typeface="Arial"/>
              </a:rPr>
              <a:t>85%+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F6257"/>
                </a:solidFill>
                <a:latin typeface="Arial"/>
              </a:rPr>
              <a:t>WhatsApp penetration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5394960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7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6442"/>
                </a:solidFill>
                <a:latin typeface="Arial"/>
              </a:rPr>
              <a:t>$50B+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F6257"/>
                </a:solidFill>
                <a:latin typeface="Arial"/>
              </a:rPr>
              <a:t>Pinduoduo (China) — same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49039"/>
            <a:ext cx="5394960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7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6442"/>
                </a:solidFill>
                <a:latin typeface="Arial"/>
              </a:rPr>
              <a:t>$20B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F6257"/>
                </a:solidFill>
                <a:latin typeface="Arial"/>
              </a:rPr>
              <a:t>TikTok Shop GMV 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F6257"/>
                </a:solidFill>
                <a:latin typeface="Arial"/>
              </a:rPr>
              <a:t>Israelis already coordinate purchases in building WhatsApp groups — manually.
Nobody has productized this. We are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PAYMENT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איך הפיימנטס עובד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9496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09728" cy="438912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Arial"/>
              </a:rPr>
              <a:t>OPTION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2118"/>
                </a:solidFill>
                <a:latin typeface="Arial"/>
              </a:rPr>
              <a:t>Bit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Zero friction. No credit card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Each user sees their total in-app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App generates personal Bit link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Payment goes directly to store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All confirmed → order placed</a:t>
            </a:r>
          </a:p>
          <a:p>
            <a:pPr algn="l"/>
            <a:r>
              <a:rPr sz="800" b="0">
                <a:solidFill>
                  <a:srgbClr val="6F6257"/>
                </a:solidFill>
                <a:latin typeface="Arial"/>
              </a:rPr>
              <a:t/>
            </a:r>
          </a:p>
          <a:p>
            <a:pPr algn="l"/>
            <a:r>
              <a:rPr sz="1300" b="1">
                <a:solidFill>
                  <a:srgbClr val="2D9E6B"/>
                </a:solidFill>
                <a:latin typeface="Arial"/>
              </a:rPr>
              <a:t>✓ Israelis already use Bit</a:t>
            </a:r>
          </a:p>
          <a:p>
            <a:pPr algn="l"/>
            <a:r>
              <a:rPr sz="1300" b="1">
                <a:solidFill>
                  <a:srgbClr val="2D9E6B"/>
                </a:solidFill>
                <a:latin typeface="Arial"/>
              </a:rPr>
              <a:t>✓ No credit card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39496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109728" cy="438912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Arial"/>
              </a:rPr>
              <a:t>OPTION 2  ★ RECOMMENDED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B2118"/>
                </a:solidFill>
                <a:latin typeface="Arial"/>
              </a:rPr>
              <a:t>Prepay &amp; Auto-Order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Fully automated. Scales to infinity.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918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User joins → picks size/color/qty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User pays immediately (card/Apple Pay)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Timer counts down (24–48h)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Timer hits zero → order auto-placed</a:t>
            </a:r>
          </a:p>
          <a:p>
            <a:pPr algn="l"/>
            <a:r>
              <a:rPr sz="1300" b="0">
                <a:solidFill>
                  <a:srgbClr val="6F6257"/>
                </a:solidFill>
                <a:latin typeface="Arial"/>
              </a:rPr>
              <a:t>• One delivery to founder's address</a:t>
            </a:r>
          </a:p>
          <a:p>
            <a:pPr algn="l"/>
            <a:r>
              <a:rPr sz="800" b="0">
                <a:solidFill>
                  <a:srgbClr val="6F6257"/>
                </a:solidFill>
                <a:latin typeface="Arial"/>
              </a:rPr>
              <a:t/>
            </a:r>
          </a:p>
          <a:p>
            <a:pPr algn="l"/>
            <a:r>
              <a:rPr sz="1300" b="1">
                <a:solidFill>
                  <a:srgbClr val="2D9E6B"/>
                </a:solidFill>
                <a:latin typeface="Arial"/>
              </a:rPr>
              <a:t>✓ Zero human action needed</a:t>
            </a:r>
          </a:p>
          <a:p>
            <a:pPr algn="l"/>
            <a:r>
              <a:rPr sz="1300" b="1">
                <a:solidFill>
                  <a:srgbClr val="2D9E6B"/>
                </a:solidFill>
                <a:latin typeface="Arial"/>
              </a:rPr>
              <a:t>✓ Full refund if group fails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FOR STORE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למה חנויות בוחרות בנו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949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118"/>
                </a:solidFill>
                <a:latin typeface="Arial"/>
              </a:rPr>
              <a:t>Bulk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One order per building — not 12 individual 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74519"/>
            <a:ext cx="53949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118"/>
                </a:solidFill>
                <a:latin typeface="Arial"/>
              </a:rPr>
              <a:t>Zero marketing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Users bring their own neighbors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53949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118"/>
                </a:solidFill>
                <a:latin typeface="Arial"/>
              </a:rPr>
              <a:t>Paid upfront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No payment chasing, no credit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337560"/>
            <a:ext cx="53949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118"/>
                </a:solidFill>
                <a:latin typeface="Arial"/>
              </a:rPr>
              <a:t>Zero returns on sizing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886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Users chose their own specs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53949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118"/>
                </a:solidFill>
                <a:latin typeface="Arial"/>
              </a:rPr>
              <a:t>Neighborhood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Know which products trend per area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800600"/>
            <a:ext cx="53949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892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118"/>
                </a:solidFill>
                <a:latin typeface="Arial"/>
              </a:rPr>
              <a:t>New acquisition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349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Every group order = word-of-mouth 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מודל עסקי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94960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442"/>
                </a:solidFill>
                <a:latin typeface="Arial"/>
              </a:rPr>
              <a:t>3–5%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Platform commission per completed group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394960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442"/>
                </a:solidFill>
                <a:latin typeface="Arial"/>
              </a:rPr>
              <a:t>₪199/mo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Store subscription — analytics + featured 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5394960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442"/>
                </a:solidFill>
                <a:latin typeface="Arial"/>
              </a:rPr>
              <a:t>CPM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Promoted product listings in neighborhood feeds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611880"/>
            <a:ext cx="5394960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703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442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Neighborhood demand reports sold to brands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1124712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118"/>
                </a:solidFill>
                <a:latin typeface="Arial"/>
              </a:rPr>
              <a:t>Unit Economics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Avg group order ₪1,200  ×  4% commission  =  ₪48 per order  ·  1,000 orders/mo  =  ₪48,000 MRR at zero marginal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איפה אנחנו עכשיו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9E6B"/>
                </a:solidFill>
                <a:latin typeface="Arial"/>
              </a:rPr>
              <a:t>TODAY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✓  App built &amp;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✓  iOS + Android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57015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✓  Stripe escrow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2394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✓  Hebrew / RTL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908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✓  Email OTP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✓  First stores in talks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47472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442"/>
                </a:solidFill>
                <a:latin typeface="Arial"/>
              </a:rPr>
              <a:t>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50 buildings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900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200 group orders/mo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57015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10 store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2394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WhatsApp invite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908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Auto-order flow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47472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442"/>
                </a:solidFill>
                <a:latin typeface="Arial"/>
              </a:rPr>
              <a:t>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500 buildings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9900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5 cities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557015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₪500K 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12394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Building mgmt deals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6908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Arial"/>
              </a:rPr>
              <a:t>→  Series A 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מה אנחנו צריכים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0" cy="20116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F6257"/>
                </a:solidFill>
                <a:latin typeface="Arial"/>
              </a:rPr>
              <a:t>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96442"/>
                </a:solidFill>
                <a:latin typeface="Arial"/>
              </a:rPr>
              <a:t>$300,000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Seed Round  ·  8% equity
Pre-money valuation: $3.25M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920240"/>
            <a:ext cx="5760720" cy="822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6442"/>
                </a:solidFill>
                <a:latin typeface="Arial"/>
              </a:rPr>
              <a:t>40%  $120K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Product &amp;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926080"/>
            <a:ext cx="5760720" cy="822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6442"/>
                </a:solidFill>
                <a:latin typeface="Arial"/>
              </a:rPr>
              <a:t>25%  $75K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Store Partnerships &amp;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931920"/>
            <a:ext cx="5760720" cy="822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6442"/>
                </a:solidFill>
                <a:latin typeface="Arial"/>
              </a:rPr>
              <a:t>20%  $60K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023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Growth &amp; Marketing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937760"/>
            <a:ext cx="5760720" cy="822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6442"/>
                </a:solidFill>
                <a:latin typeface="Arial"/>
              </a:rPr>
              <a:t>15%  $45K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118"/>
                </a:solidFill>
                <a:latin typeface="Arial"/>
              </a:rPr>
              <a:t>Legal, Ops,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F6257"/>
                </a:solidFill>
                <a:latin typeface="Arial"/>
              </a:rPr>
              <a:t>18 months runway  ·  First 50 store partners  ·  1,000 active building groups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Arial"/>
              </a:rPr>
              <a:t>WHY INVEST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B2118"/>
                </a:solidFill>
                <a:latin typeface="Arial"/>
              </a:rPr>
              <a:t>למה להשקיע עכשיו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36576"/>
          </a:xfrm>
          <a:prstGeom prst="rect">
            <a:avLst/>
          </a:prstGeom>
          <a:solidFill>
            <a:srgbClr val="E3D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9496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09728" cy="128016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118"/>
                </a:solidFill>
                <a:latin typeface="Arial"/>
              </a:rPr>
              <a:t>Untapped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No competitor in Israel doing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39496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109728" cy="128016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299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118"/>
                </a:solidFill>
                <a:latin typeface="Arial"/>
              </a:rPr>
              <a:t>Network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Every building that joins locks in neighbors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39496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109728" cy="128016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387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118"/>
                </a:solidFill>
                <a:latin typeface="Arial"/>
              </a:rPr>
              <a:t>Viral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Every group order is a WhatsApp share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29000"/>
            <a:ext cx="539496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429000"/>
            <a:ext cx="109728" cy="128016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387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118"/>
                </a:solidFill>
                <a:latin typeface="Arial"/>
              </a:rPr>
              <a:t>Asset-light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No inventory. No warehouse. No logistics.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539496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09728" cy="128016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47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118"/>
                </a:solidFill>
                <a:latin typeface="Arial"/>
              </a:rPr>
              <a:t>Built already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This is not a deck. The app exists. The tech works.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37760"/>
            <a:ext cx="5394960" cy="1280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937760"/>
            <a:ext cx="109728" cy="128016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047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118"/>
                </a:solidFill>
                <a:latin typeface="Arial"/>
              </a:rPr>
              <a:t>Founder-market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532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Arial"/>
              </a:rPr>
              <a:t>Built by Israelis, for Israelis, in apartment buildings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2B2118"/>
                </a:solidFill>
                <a:latin typeface="Arial"/>
              </a:rPr>
              <a:t>SHAKANA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6F6257"/>
                </a:solidFill>
                <a:latin typeface="Arial"/>
              </a:rPr>
              <a:t>קניות קבוצתיות לשכנים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4572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6442"/>
                </a:solidFill>
                <a:latin typeface="Arial"/>
              </a:rPr>
              <a:t>sharon@shakana.app  ·  shakana.app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F6257"/>
                </a:solidFill>
                <a:latin typeface="Arial"/>
              </a:rPr>
              <a:t>Built in Israel. For Israel.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