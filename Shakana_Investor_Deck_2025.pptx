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2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3A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CF7"/>
                </a:solidFill>
                <a:latin typeface="Calibri"/>
              </a:rPr>
              <a:t>● SHAKANA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Group Orders for Your Neighbors.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E8878"/>
                </a:solidFill>
                <a:latin typeface="Calibri"/>
              </a:rPr>
              <a:t>הזמנות קבוצתיות לשכנים — פשוט, בטוח, וחוסך כסף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480560"/>
            <a:ext cx="5760720" cy="594360"/>
          </a:xfrm>
          <a:prstGeom prst="rect">
            <a:avLst/>
          </a:prstGeom>
          <a:solidFill>
            <a:srgbClr val="3A1E12"/>
          </a:solidFill>
          <a:ln w="12700">
            <a:solidFill>
              <a:srgbClr val="553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449884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E8878"/>
                </a:solidFill>
                <a:latin typeface="Calibri"/>
              </a:rPr>
              <a:t>Seed Round  ·  May 2025  ·  ₪1.5M / $400K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442"/>
                </a:solidFill>
                <a:latin typeface="Calibri"/>
              </a:rPr>
              <a:t>01  ·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118"/>
                </a:solidFill>
                <a:latin typeface="Calibri"/>
              </a:rPr>
              <a:t>Every week neighbors share links.
Nobody splits the 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64240" cy="18288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3520440" cy="265176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B2118"/>
                </a:solidFill>
                <a:latin typeface="Calibri"/>
              </a:rP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118"/>
                </a:solidFill>
                <a:latin typeface="Calibri"/>
              </a:rPr>
              <a:t>Minimum Order Pain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56432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F6257"/>
                </a:solidFill>
                <a:latin typeface="Calibri"/>
              </a:rPr>
              <a:t>H&amp;M free shipping starts at ₪299.
One person rarely hits it alone.
Everyone pays full shipping.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2331720"/>
            <a:ext cx="3520440" cy="265176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2468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B2118"/>
                </a:solidFill>
                <a:latin typeface="Calibri"/>
              </a:rPr>
              <a:t>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3017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118"/>
                </a:solidFill>
                <a:latin typeface="Calibri"/>
              </a:rPr>
              <a:t>The Money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3456432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F6257"/>
                </a:solidFill>
                <a:latin typeface="Calibri"/>
              </a:rPr>
              <a:t>Someone fronts ₪1,200.
Some pay back, some 'forget'.
The WhatsApp chat becomes chaos.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2331720"/>
            <a:ext cx="3520440" cy="265176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2468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B2118"/>
                </a:solidFill>
                <a:latin typeface="Calibri"/>
              </a:rPr>
              <a:t>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3017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118"/>
                </a:solidFill>
                <a:latin typeface="Calibri"/>
              </a:rPr>
              <a:t>Neighbors Are Already There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456432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F6257"/>
                </a:solidFill>
                <a:latin typeface="Calibri"/>
              </a:rPr>
              <a:t>200,000 Israeli building WhatsApp groups.
Coordination exists.
Payment infrastructure doesn't.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3951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F6257"/>
                </a:solidFill>
                <a:latin typeface="Calibri"/>
              </a:rPr>
              <a:t>The current solution: WhatsApp + bank transfer.  No dedicated tool exists for building-level commerce.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442"/>
                </a:solidFill>
                <a:latin typeface="Calibri"/>
              </a:rPr>
              <a:t>02  ·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118"/>
                </a:solidFill>
                <a:latin typeface="Calibri"/>
              </a:rPr>
              <a:t>Shakana — The Checkout Layer
for Neighbors.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64240" cy="18288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2743200" cy="292608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87168"/>
            <a:ext cx="475488" cy="475488"/>
          </a:xfrm>
          <a:prstGeom prst="ellipse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118"/>
                </a:solidFill>
                <a:latin typeface="Calibri"/>
              </a:rPr>
              <a:t>Paste a product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56432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F6257"/>
                </a:solidFill>
                <a:latin typeface="Calibri"/>
              </a:rPr>
              <a:t>From H&amp;M, Zara, Amazon, or any store.
Shakana pulls name, image &amp; price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331720"/>
            <a:ext cx="2743200" cy="292608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03320" y="2487168"/>
            <a:ext cx="475488" cy="475488"/>
          </a:xfrm>
          <a:prstGeom prst="ellipse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4871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118"/>
                </a:solidFill>
                <a:latin typeface="Calibri"/>
              </a:rPr>
              <a:t>Share a 4-digit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456432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F6257"/>
                </a:solidFill>
                <a:latin typeface="Calibri"/>
              </a:rPr>
              <a:t>Neighbors join from the building chat,
choose color, size, and quantity.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331720"/>
            <a:ext cx="2743200" cy="292608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2487168"/>
            <a:ext cx="475488" cy="475488"/>
          </a:xfrm>
          <a:prstGeom prst="ellipse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4871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118"/>
                </a:solidFill>
                <a:latin typeface="Calibri"/>
              </a:rPr>
              <a:t>Everyone pays their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456432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F6257"/>
                </a:solidFill>
                <a:latin typeface="Calibri"/>
              </a:rPr>
              <a:t>Stripe holds funds in escrow.
No one can cancel unilaterally.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331720"/>
            <a:ext cx="2743200" cy="292608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55480" y="2487168"/>
            <a:ext cx="475488" cy="475488"/>
          </a:xfrm>
          <a:prstGeom prst="ellipse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24871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118"/>
                </a:solidFill>
                <a:latin typeface="Calibri"/>
              </a:rPr>
              <a:t>Founder buys from the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3456432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F6257"/>
                </a:solidFill>
                <a:latin typeface="Calibri"/>
              </a:rPr>
              <a:t>Places the order, marks as shipped.
Money is released. No open tabs.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94960"/>
            <a:ext cx="11064240" cy="594360"/>
          </a:xfrm>
          <a:prstGeom prst="rect">
            <a:avLst/>
          </a:prstGeom>
          <a:solidFill>
            <a:srgbClr val="F5EBE0"/>
          </a:solidFill>
          <a:ln w="12700">
            <a:solidFill>
              <a:srgbClr val="C96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4589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6442"/>
                </a:solidFill>
                <a:latin typeface="Calibri"/>
              </a:rPr>
              <a:t>Average saving per family: ₪47 per purchase  ·  Average orders per building: 4–6 per 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442"/>
                </a:solidFill>
                <a:latin typeface="Calibri"/>
              </a:rPr>
              <a:t>03  ·  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118"/>
                </a:solidFill>
                <a:latin typeface="Calibri"/>
              </a:rPr>
              <a:t>Focused Market. Massive Potential.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66160" cy="274320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2B2118"/>
                </a:solidFill>
                <a:latin typeface="Calibri"/>
              </a:rPr>
              <a:t>$1.1T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6442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0156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F6257"/>
                </a:solidFill>
                <a:latin typeface="Calibri"/>
              </a:rPr>
              <a:t>Global Social Commerce
by 2028 (Statista)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920240"/>
            <a:ext cx="3566160" cy="274320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2B2118"/>
                </a:solidFill>
                <a:latin typeface="Calibri"/>
              </a:rPr>
              <a:t>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6442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40156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F6257"/>
                </a:solidFill>
                <a:latin typeface="Calibri"/>
              </a:rPr>
              <a:t>Israeli apartment
households
~200K building chats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566160" cy="2743200"/>
          </a:xfrm>
          <a:prstGeom prst="rect">
            <a:avLst/>
          </a:prstGeom>
          <a:solidFill>
            <a:srgbClr val="F5EBE0"/>
          </a:solidFill>
          <a:ln w="12700">
            <a:solidFill>
              <a:srgbClr val="C96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C96442"/>
                </a:solidFill>
                <a:latin typeface="Calibri"/>
              </a:rPr>
              <a:t>₪36M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6442"/>
                </a:solidFill>
                <a:latin typeface="Calibri"/>
              </a:rPr>
              <a:t>SOM Year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40156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F6257"/>
                </a:solidFill>
                <a:latin typeface="Calibri"/>
              </a:rPr>
              <a:t>5,000 buildings
× 4 orders/mo
× ₪150 avg commission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Calibri"/>
              </a:rPr>
              <a:t>🇮🇱  Why Israel first:  Building culture + WhatsApp-native coordination + Stripe IL live since 2023 + zero funded competitor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118"/>
                </a:solidFill>
                <a:latin typeface="Calibri"/>
              </a:rPr>
              <a:t>Expansion path:  Israel → Germany → UK → 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442"/>
                </a:solidFill>
                <a:latin typeface="Calibri"/>
              </a:rPr>
              <a:t>04  · 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118"/>
                </a:solidFill>
                <a:latin typeface="Calibri"/>
              </a:rPr>
              <a:t>3 Revenue Streams.
Clear Unit Economics.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64240" cy="18288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7498079" cy="457200"/>
          </a:xfrm>
          <a:prstGeom prst="rect">
            <a:avLst/>
          </a:prstGeom>
          <a:solidFill>
            <a:srgbClr val="2B2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Revenue 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 Order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7498079" cy="640080"/>
          </a:xfrm>
          <a:prstGeom prst="rect">
            <a:avLst/>
          </a:prstGeom>
          <a:solidFill>
            <a:srgbClr val="F7F1E8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118"/>
                </a:solidFill>
                <a:latin typeface="Calibri"/>
              </a:rPr>
              <a:t>Transaction Fee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34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Calibri"/>
              </a:rPr>
              <a:t>4% of order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834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6442"/>
                </a:solidFill>
                <a:latin typeface="Calibri"/>
              </a:rPr>
              <a:t>₪40–120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7498079" cy="64008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118"/>
                </a:solidFill>
                <a:latin typeface="Calibri"/>
              </a:rPr>
              <a:t>Store Partnerships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Calibri"/>
              </a:rPr>
              <a:t>Referral from H&amp;M / Zara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474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6442"/>
                </a:solidFill>
                <a:latin typeface="Calibri"/>
              </a:rPr>
              <a:t>₪15–60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69079"/>
            <a:ext cx="7498079" cy="640080"/>
          </a:xfrm>
          <a:prstGeom prst="rect">
            <a:avLst/>
          </a:prstGeom>
          <a:solidFill>
            <a:srgbClr val="F7F1E8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118"/>
                </a:solidFill>
                <a:latin typeface="Calibri"/>
              </a:rPr>
              <a:t>Building Premium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F6257"/>
                </a:solidFill>
                <a:latin typeface="Calibri"/>
              </a:rPr>
              <a:t>₪29/mo advanced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114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6442"/>
                </a:solidFill>
                <a:latin typeface="Calibri"/>
              </a:rPr>
              <a:t>₪29/mo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331720"/>
            <a:ext cx="3840480" cy="4297680"/>
          </a:xfrm>
          <a:prstGeom prst="rect">
            <a:avLst/>
          </a:prstGeom>
          <a:solidFill>
            <a:srgbClr val="F5EBE0"/>
          </a:solidFill>
          <a:ln w="12700">
            <a:solidFill>
              <a:srgbClr val="C96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6442"/>
                </a:solidFill>
                <a:latin typeface="Calibri"/>
              </a:rPr>
              <a:t>Unit Economics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880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Calibri"/>
              </a:rPr>
              <a:t>10 neighbors × ₪250 each
Order total: ₪2,500
Fee @ 4%: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74903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96442"/>
                </a:solidFill>
                <a:latin typeface="Calibri"/>
              </a:rPr>
              <a:t>₪100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297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F6257"/>
                </a:solidFill>
                <a:latin typeface="Calibri"/>
              </a:rPr>
              <a:t>per order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4709160"/>
            <a:ext cx="3474720" cy="13716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800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F6257"/>
                </a:solidFill>
                <a:latin typeface="Calibri"/>
              </a:rPr>
              <a:t>1,000 orders/month 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120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B2118"/>
                </a:solidFill>
                <a:latin typeface="Calibri"/>
              </a:rPr>
              <a:t>₪100K MRR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7492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F6257"/>
                </a:solidFill>
                <a:latin typeface="Calibri"/>
              </a:rPr>
              <a:t>Gross Margin ~82%  (Stripe ~1.8% + infra, rest is margin)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442"/>
                </a:solidFill>
                <a:latin typeface="Calibri"/>
              </a:rPr>
              <a:t>05  · 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118"/>
                </a:solidFill>
                <a:latin typeface="Calibri"/>
              </a:rPr>
              <a:t>Working Product.
Ready to Launch.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64240" cy="18288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2743200" cy="292608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B2118"/>
                </a:solidFill>
                <a:latin typeface="Calibri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B2118"/>
                </a:solidFill>
                <a:latin typeface="Calibri"/>
              </a:rPr>
              <a:t>Full Working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F6257"/>
                </a:solidFill>
                <a:latin typeface="Calibri"/>
              </a:rPr>
              <a:t>React Native + Supabase
+ Stripe Escrow
Live demo available 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331720"/>
            <a:ext cx="2743200" cy="292608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48716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B2118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54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B2118"/>
                </a:solidFill>
                <a:latin typeface="Calibri"/>
              </a:rPr>
              <a:t>Stores Connected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F6257"/>
                </a:solidFill>
                <a:latin typeface="Calibri"/>
              </a:rPr>
              <a:t>H&amp;M · Zara · Amazon
Auto product data pull
Color variant images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331720"/>
            <a:ext cx="2743200" cy="292608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48716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B2118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54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B2118"/>
                </a:solidFill>
                <a:latin typeface="Calibri"/>
              </a:rPr>
              <a:t>Security Vulnerabilities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F6257"/>
                </a:solidFill>
                <a:latin typeface="Calibri"/>
              </a:rPr>
              <a:t>Full security audit passed
No hardcoded secrets
SQL injection safe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2331720"/>
            <a:ext cx="2743200" cy="292608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248716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B2118"/>
                </a:solidFill>
                <a:latin typeface="Calibri"/>
              </a:rPr>
              <a:t>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154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B2118"/>
                </a:solidFill>
                <a:latin typeface="Calibri"/>
              </a:rPr>
              <a:t>Take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F6257"/>
                </a:solidFill>
                <a:latin typeface="Calibri"/>
              </a:rPr>
              <a:t>Charged at escrow release
No upfront cost to users
Clear value exchange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94960"/>
            <a:ext cx="11064240" cy="594360"/>
          </a:xfrm>
          <a:prstGeom prst="rect">
            <a:avLst/>
          </a:prstGeom>
          <a:solidFill>
            <a:srgbClr val="F5EBE0"/>
          </a:solidFill>
          <a:ln w="12700">
            <a:solidFill>
              <a:srgbClr val="C96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589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6442"/>
                </a:solidFill>
                <a:latin typeface="Calibri"/>
              </a:rPr>
              <a:t>Live demo:  shakana1.vercel.app  — full group order flow with mock payment, ready to show investors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442"/>
                </a:solidFill>
                <a:latin typeface="Calibri"/>
              </a:rPr>
              <a:t>06  · 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118"/>
                </a:solidFill>
                <a:latin typeface="Calibri"/>
              </a:rPr>
              <a:t>Viral Growth,
Building by Building.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64240" cy="18288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11064240" cy="123444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51760"/>
            <a:ext cx="1828800" cy="41148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670048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Phase 1  ·  Q3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542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118"/>
                </a:solidFill>
                <a:latin typeface="Calibri"/>
              </a:rPr>
              <a:t>Building Managers &amp; Vaad Bayit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9260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F6257"/>
                </a:solidFill>
                <a:latin typeface="Calibri"/>
              </a:rPr>
              <a:t>One manager = 20–60 tenants instantly. Incentive: 1% commission on every order in their building. Target: 50 buildings in Tel Aviv &amp; Gush Dan.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123444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023359"/>
            <a:ext cx="1828800" cy="411480"/>
          </a:xfrm>
          <a:prstGeom prst="rect">
            <a:avLst/>
          </a:prstGeom>
          <a:solidFill>
            <a:srgbClr val="3D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041648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Phase 2  ·  Q4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9136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118"/>
                </a:solidFill>
                <a:latin typeface="Calibri"/>
              </a:rPr>
              <a:t>WhatsApp Group Admins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97679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F6257"/>
                </a:solidFill>
                <a:latin typeface="Calibri"/>
              </a:rPr>
              <a:t>Every building group admin gets 'Shakana Pro' — dashboards, stats, advanced features. Referral program with cash reward per active user brought.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1234440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5394959"/>
            <a:ext cx="1828800" cy="411480"/>
          </a:xfrm>
          <a:prstGeom prst="rect">
            <a:avLst/>
          </a:prstGeom>
          <a:solidFill>
            <a:srgbClr val="2B2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413248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Phase 3  ·  Q1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2852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118"/>
                </a:solidFill>
                <a:latin typeface="Calibri"/>
              </a:rPr>
              <a:t>Direct Store Partnerships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669279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F6257"/>
                </a:solidFill>
                <a:latin typeface="Calibri"/>
              </a:rPr>
              <a:t>H&amp;M Israel, Zara IL — low-cost acquisition channel. Shakana delivers building-level cohort traffic that stores cannot reach on their own.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solidFill>
            <a:srgbClr val="F5EBE0"/>
          </a:solidFill>
          <a:ln w="12700">
            <a:solidFill>
              <a:srgbClr val="C96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6442"/>
                </a:solidFill>
                <a:latin typeface="Calibri"/>
              </a:rPr>
              <a:t>Every order IS the marketing — one user brings their 9 neighbors.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2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442"/>
                </a:solidFill>
                <a:latin typeface="Calibri"/>
              </a:rPr>
              <a:t>07  ·  TEAM &amp;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Why Us. Why 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1600200"/>
          </a:xfrm>
          <a:prstGeom prst="rect">
            <a:avLst/>
          </a:prstGeom>
          <a:solidFill>
            <a:srgbClr val="3A281E"/>
          </a:solidFill>
          <a:ln w="12700">
            <a:solidFill>
              <a:srgbClr val="553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🧠  Tech-First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E8878"/>
                </a:solidFill>
                <a:latin typeface="Calibri"/>
              </a:rPr>
              <a:t>Full product built before first raise: React Native, Supabase, Stripe Escrow, security audit. Not a slide deck — a live product.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1600200"/>
          </a:xfrm>
          <a:prstGeom prst="rect">
            <a:avLst/>
          </a:prstGeom>
          <a:solidFill>
            <a:srgbClr val="3A281E"/>
          </a:solidFill>
          <a:ln w="12700">
            <a:solidFill>
              <a:srgbClr val="553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🏘️  Domain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146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E8878"/>
                </a:solidFill>
                <a:latin typeface="Calibri"/>
              </a:rPr>
              <a:t>Deep understanding of Israeli building culture and the concrete pain of group coordination.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49039"/>
            <a:ext cx="5394960" cy="1600200"/>
          </a:xfrm>
          <a:prstGeom prst="rect">
            <a:avLst/>
          </a:prstGeom>
          <a:solidFill>
            <a:srgbClr val="3A281E"/>
          </a:solidFill>
          <a:ln w="12700">
            <a:solidFill>
              <a:srgbClr val="553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31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⚡  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E8878"/>
                </a:solidFill>
                <a:latin typeface="Calibri"/>
              </a:rPr>
              <a:t>0 → working product with Escrow Payments, live demo, full security audit — no funding needed to get here.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49039"/>
            <a:ext cx="5394960" cy="1600200"/>
          </a:xfrm>
          <a:prstGeom prst="rect">
            <a:avLst/>
          </a:prstGeom>
          <a:solidFill>
            <a:srgbClr val="3A281E"/>
          </a:solidFill>
          <a:ln w="12700">
            <a:solidFill>
              <a:srgbClr val="553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31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🔒  Defensibility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3434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E8878"/>
                </a:solidFill>
                <a:latin typeface="Calibri"/>
              </a:rPr>
              <a:t>Stripe Escrow (hard to replicate), building data moat, network effect, store partnership pipeline.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715000"/>
            <a:ext cx="11064240" cy="1051560"/>
          </a:xfrm>
          <a:prstGeom prst="rect">
            <a:avLst/>
          </a:prstGeom>
          <a:solidFill>
            <a:srgbClr val="3A1E12"/>
          </a:solidFill>
          <a:ln w="12700">
            <a:solidFill>
              <a:srgbClr val="553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8878"/>
                </a:solidFill>
                <a:latin typeface="Calibri"/>
              </a:rPr>
              <a:t>Q3 '25: 50 buildings · 200 orders/mo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8878"/>
                </a:solidFill>
                <a:latin typeface="Calibri"/>
              </a:rPr>
              <a:t>Q4 '25: ₪50K MRR · App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806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8878"/>
                </a:solidFill>
                <a:latin typeface="Calibri"/>
              </a:rPr>
              <a:t>Q1 '26: H&amp;M / Zara partnership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5806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8878"/>
                </a:solidFill>
                <a:latin typeface="Calibri"/>
              </a:rPr>
              <a:t>Q2 '26: Series A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1447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442"/>
                </a:solidFill>
                <a:latin typeface="Calibri"/>
              </a:rPr>
              <a:t>12-Month Milestones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442"/>
                </a:solidFill>
                <a:latin typeface="Calibri"/>
              </a:rPr>
              <a:t>08  · 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118"/>
                </a:solidFill>
                <a:latin typeface="Calibri"/>
              </a:rPr>
              <a:t>Zero Direct Competitors
in Israel.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64240" cy="18288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solidFill>
            <a:srgbClr val="2B2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Group Pay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Building-Level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Escrow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Israel Live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88920"/>
            <a:ext cx="11064240" cy="658368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346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Calibri"/>
              </a:rPr>
              <a:t>WhatsApp + Bank Transfer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346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F6257"/>
                </a:solidFill>
                <a:latin typeface="Calibri"/>
              </a:rPr>
              <a:t>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8346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F6257"/>
                </a:solidFill>
                <a:latin typeface="Calibri"/>
              </a:rP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8346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F6257"/>
                </a:solidFill>
                <a:latin typeface="Calibri"/>
              </a:rPr>
              <a:t>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8346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D8A5E"/>
                </a:solidFill>
                <a:latin typeface="Calibri"/>
              </a:rPr>
              <a:t>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47287"/>
            <a:ext cx="11064240" cy="658368"/>
          </a:xfrm>
          <a:prstGeom prst="rect">
            <a:avLst/>
          </a:prstGeom>
          <a:solidFill>
            <a:srgbClr val="F7F1E8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930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Calibri"/>
              </a:rPr>
              <a:t>Splitit / PayMe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9300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F6257"/>
                </a:solidFill>
                <a:latin typeface="Calibri"/>
              </a:rPr>
              <a:t>Partial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49300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F6257"/>
                </a:solidFill>
                <a:latin typeface="Calibri"/>
              </a:rP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49300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F6257"/>
                </a:solidFill>
                <a:latin typeface="Calibri"/>
              </a:rPr>
              <a:t>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49300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D8A5E"/>
                </a:solidFill>
                <a:latin typeface="Calibri"/>
              </a:rPr>
              <a:t>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05656"/>
            <a:ext cx="11064240" cy="658368"/>
          </a:xfrm>
          <a:prstGeom prst="rect">
            <a:avLst/>
          </a:prstGeom>
          <a:solidFill>
            <a:srgbClr val="FFFCF7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1513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Calibri"/>
              </a:rPr>
              <a:t>Shopify / WooCommerce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15137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F6257"/>
                </a:solidFill>
                <a:latin typeface="Calibri"/>
              </a:rP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15137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F6257"/>
                </a:solidFill>
                <a:latin typeface="Calibri"/>
              </a:rPr>
              <a:t>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15137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F6257"/>
                </a:solidFill>
                <a:latin typeface="Calibri"/>
              </a:rP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15137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D8A5E"/>
                </a:solidFill>
                <a:latin typeface="Calibri"/>
              </a:rPr>
              <a:t>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764024"/>
            <a:ext cx="11064240" cy="658368"/>
          </a:xfrm>
          <a:prstGeom prst="rect">
            <a:avLst/>
          </a:prstGeom>
          <a:solidFill>
            <a:srgbClr val="F7F1E8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8097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2118"/>
                </a:solidFill>
                <a:latin typeface="Calibri"/>
              </a:rPr>
              <a:t>GroupGets (US)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80974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D8A5E"/>
                </a:solidFill>
                <a:latin typeface="Calibri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80974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F6257"/>
                </a:solidFill>
                <a:latin typeface="Calibri"/>
              </a:rP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80974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F6257"/>
                </a:solidFill>
                <a:latin typeface="Calibri"/>
              </a:rPr>
              <a:t>Partial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80974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F6257"/>
                </a:solidFill>
                <a:latin typeface="Calibri"/>
              </a:rPr>
              <a:t>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422392"/>
            <a:ext cx="11064240" cy="658368"/>
          </a:xfrm>
          <a:prstGeom prst="rect">
            <a:avLst/>
          </a:prstGeom>
          <a:solidFill>
            <a:srgbClr val="F5EBE0"/>
          </a:solidFill>
          <a:ln w="12700">
            <a:solidFill>
              <a:srgbClr val="E3D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681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442"/>
                </a:solidFill>
                <a:latin typeface="Calibri"/>
              </a:rPr>
              <a:t>🟠  Shakana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46811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D8A5E"/>
                </a:solidFill>
                <a:latin typeface="Calibri"/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546811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D8A5E"/>
                </a:solidFill>
                <a:latin typeface="Calibri"/>
              </a:rPr>
              <a:t>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546811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D8A5E"/>
                </a:solidFill>
                <a:latin typeface="Calibri"/>
              </a:rP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546811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D8A5E"/>
                </a:solidFill>
                <a:latin typeface="Calibri"/>
              </a:rPr>
              <a:t>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14476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F6257"/>
                </a:solidFill>
                <a:latin typeface="Calibri"/>
              </a:rPr>
              <a:t>When H&amp;M asks 'why won't you do this yourself?' — they won't serve 8 apartments. This is hyper-local infrastructure, not retail.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2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6442"/>
                </a:solidFill>
                <a:latin typeface="Calibri"/>
              </a:rPr>
              <a:t>09  · 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We Are Raising.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C96442"/>
                </a:solidFill>
                <a:latin typeface="Calibri"/>
              </a:rPr>
              <a:t>₪1,500,000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E8878"/>
                </a:solidFill>
                <a:latin typeface="Calibri"/>
              </a:rPr>
              <a:t>$400,000  ·  Pre-Seed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E8878"/>
                </a:solidFill>
                <a:latin typeface="Calibri"/>
              </a:rPr>
              <a:t>SAFE  ·  Valuation Cap ₪6M ($1.6M)  ·  18 months runway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2011680"/>
            <a:ext cx="5212080" cy="914400"/>
          </a:xfrm>
          <a:prstGeom prst="rect">
            <a:avLst/>
          </a:prstGeom>
          <a:solidFill>
            <a:srgbClr val="3A281E"/>
          </a:solidFill>
          <a:ln w="12700">
            <a:solidFill>
              <a:srgbClr val="553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103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👥 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103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96442"/>
                </a:solidFill>
                <a:latin typeface="Calibri"/>
              </a:rPr>
              <a:t>₪900K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4871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8878"/>
                </a:solidFill>
                <a:latin typeface="Calibri"/>
              </a:rPr>
              <a:t>Dev ₪30K/mo · Growth ₪20K/mo · Founder ₪15K/mo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3017520"/>
            <a:ext cx="5212080" cy="914400"/>
          </a:xfrm>
          <a:prstGeom prst="rect">
            <a:avLst/>
          </a:prstGeom>
          <a:solidFill>
            <a:srgbClr val="3A281E"/>
          </a:solidFill>
          <a:ln w="12700">
            <a:solidFill>
              <a:srgbClr val="553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3108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📣  GTM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108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96442"/>
                </a:solidFill>
                <a:latin typeface="Calibri"/>
              </a:rPr>
              <a:t>₪360K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4930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8878"/>
                </a:solidFill>
                <a:latin typeface="Calibri"/>
              </a:rPr>
              <a:t>Building managers · Marketing · 100 buildings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023360"/>
            <a:ext cx="5212080" cy="914400"/>
          </a:xfrm>
          <a:prstGeom prst="rect">
            <a:avLst/>
          </a:prstGeom>
          <a:solidFill>
            <a:srgbClr val="3A281E"/>
          </a:solidFill>
          <a:ln w="12700">
            <a:solidFill>
              <a:srgbClr val="553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4114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⚙️  Product &amp; Infra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1148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96442"/>
                </a:solidFill>
                <a:latin typeface="Calibri"/>
              </a:rPr>
              <a:t>₪180K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4988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8878"/>
                </a:solidFill>
                <a:latin typeface="Calibri"/>
              </a:rPr>
              <a:t>Supabase · Stripe · App Store · Legal · Partnerships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5029200"/>
            <a:ext cx="5212080" cy="914400"/>
          </a:xfrm>
          <a:prstGeom prst="rect">
            <a:avLst/>
          </a:prstGeom>
          <a:solidFill>
            <a:srgbClr val="3A281E"/>
          </a:solidFill>
          <a:ln w="12700">
            <a:solidFill>
              <a:srgbClr val="553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51206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🛡️  Buffer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1206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96442"/>
                </a:solidFill>
                <a:latin typeface="Calibri"/>
              </a:rPr>
              <a:t>₪60K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55046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E8878"/>
                </a:solidFill>
                <a:latin typeface="Calibri"/>
              </a:rPr>
              <a:t>Contingency reserve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989320"/>
            <a:ext cx="11064240" cy="804672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 milestone: ₪500K MRR → Series A.   shakana1.vercel.app  ·  Live demo available 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